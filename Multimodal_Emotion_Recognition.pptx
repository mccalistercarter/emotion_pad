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9" d="100"/>
          <a:sy n="69" d="100"/>
        </p:scale>
        <p:origin x="56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E1FBB61A-F139-4005-AB0C-A2E7DBAC404E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F693D42B-9A52-4EC7-9752-F295F8834D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824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BB61A-F139-4005-AB0C-A2E7DBAC404E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3D42B-9A52-4EC7-9752-F295F8834D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862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BB61A-F139-4005-AB0C-A2E7DBAC404E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3D42B-9A52-4EC7-9752-F295F8834D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44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BB61A-F139-4005-AB0C-A2E7DBAC404E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3D42B-9A52-4EC7-9752-F295F8834D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551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BB61A-F139-4005-AB0C-A2E7DBAC404E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3D42B-9A52-4EC7-9752-F295F8834D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293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BB61A-F139-4005-AB0C-A2E7DBAC404E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3D42B-9A52-4EC7-9752-F295F8834D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325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BB61A-F139-4005-AB0C-A2E7DBAC404E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3D42B-9A52-4EC7-9752-F295F8834D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654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BB61A-F139-4005-AB0C-A2E7DBAC404E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F693D42B-9A52-4EC7-9752-F295F8834D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866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E1FBB61A-F139-4005-AB0C-A2E7DBAC404E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F693D42B-9A52-4EC7-9752-F295F8834D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9137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BB61A-F139-4005-AB0C-A2E7DBAC404E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3D42B-9A52-4EC7-9752-F295F8834D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728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BB61A-F139-4005-AB0C-A2E7DBAC404E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3D42B-9A52-4EC7-9752-F295F8834D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26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E1FBB61A-F139-4005-AB0C-A2E7DBAC404E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F693D42B-9A52-4EC7-9752-F295F8834D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491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E9054D1-77CB-8892-7B4D-8261F421F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612" y="353482"/>
            <a:ext cx="10772775" cy="1658198"/>
          </a:xfrm>
        </p:spPr>
        <p:txBody>
          <a:bodyPr/>
          <a:lstStyle/>
          <a:p>
            <a:r>
              <a:rPr lang="en-US" dirty="0"/>
              <a:t>Multimodal Emotion Recognition for HRI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8FAC971-1300-EA65-776F-4113BD71B5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Objective: </a:t>
            </a:r>
            <a:r>
              <a:rPr lang="en-US" dirty="0"/>
              <a:t>Predict emotions in PAD (Pleasure-Arousal-Dominance) space from text, audio and video inputs</a:t>
            </a:r>
          </a:p>
          <a:p>
            <a:r>
              <a:rPr lang="en-US" b="1" dirty="0"/>
              <a:t>Challenge: </a:t>
            </a:r>
            <a:r>
              <a:rPr lang="en-US" dirty="0"/>
              <a:t>Latency, noisy or missing modalities, and multimodal fusion for accurate predictions</a:t>
            </a:r>
          </a:p>
          <a:p>
            <a:r>
              <a:rPr lang="en-US" b="1" dirty="0"/>
              <a:t>Motivation: </a:t>
            </a:r>
            <a:r>
              <a:rPr lang="en-US" dirty="0"/>
              <a:t>Improve human-robot interaction by enabling robots to understand human emotional states.</a:t>
            </a:r>
          </a:p>
        </p:txBody>
      </p:sp>
    </p:spTree>
    <p:extLst>
      <p:ext uri="{BB962C8B-B14F-4D97-AF65-F5344CB8AC3E}">
        <p14:creationId xmlns:p14="http://schemas.microsoft.com/office/powerpoint/2010/main" val="15607852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8267A-84CF-5C75-E332-A928DEFB6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612" y="216069"/>
            <a:ext cx="10772775" cy="1658198"/>
          </a:xfrm>
        </p:spPr>
        <p:txBody>
          <a:bodyPr/>
          <a:lstStyle/>
          <a:p>
            <a:r>
              <a:rPr lang="en-US" dirty="0"/>
              <a:t>Model Design and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994938-2DCC-E3D8-26AA-EB40367990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r>
              <a:rPr lang="en-US" b="1" dirty="0"/>
              <a:t>Text Modality: </a:t>
            </a:r>
            <a:r>
              <a:rPr lang="en-US" dirty="0"/>
              <a:t>Regression model trained on ISEAR dataset; inputs are features including semantic embeddings, sentiment polarity, and emotion classification derived from text input, outputs are PAD vectors.</a:t>
            </a:r>
          </a:p>
          <a:p>
            <a:r>
              <a:rPr lang="en-US" b="1" dirty="0"/>
              <a:t>Audio Modality: </a:t>
            </a:r>
            <a:r>
              <a:rPr lang="en-US" dirty="0"/>
              <a:t>Regression model trained on RAVDESS dataset; inputs are audio features such as MFCCs, pitch, energy, and spectral centroid derived from .wav file inputs, outputs are PAD vectors.</a:t>
            </a:r>
          </a:p>
          <a:p>
            <a:r>
              <a:rPr lang="en-US" b="1" dirty="0"/>
              <a:t>Video Modality: </a:t>
            </a:r>
            <a:r>
              <a:rPr lang="en-US" dirty="0"/>
              <a:t>Regression model using FER for frame-level emotion detection; outputs are PAD vectors.</a:t>
            </a:r>
          </a:p>
          <a:p>
            <a:r>
              <a:rPr lang="en-US" b="1" dirty="0"/>
              <a:t>Fusion: </a:t>
            </a:r>
            <a:r>
              <a:rPr lang="en-US" dirty="0"/>
              <a:t>Simple average of predicted PAD vectors across modalities.</a:t>
            </a:r>
          </a:p>
          <a:p>
            <a:r>
              <a:rPr lang="en-US" b="1" dirty="0"/>
              <a:t>Justification: </a:t>
            </a:r>
            <a:r>
              <a:rPr lang="en-US" dirty="0"/>
              <a:t>Separate models allow independent handling of missing/noisy modalities. Average PAD predictions balances contributions from all modalities without having to worry about overfitting too much.</a:t>
            </a:r>
          </a:p>
        </p:txBody>
      </p:sp>
    </p:spTree>
    <p:extLst>
      <p:ext uri="{BB962C8B-B14F-4D97-AF65-F5344CB8AC3E}">
        <p14:creationId xmlns:p14="http://schemas.microsoft.com/office/powerpoint/2010/main" val="35622740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868E8-7114-9023-BC0A-69843CFA0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973" y="276817"/>
            <a:ext cx="10760054" cy="1228299"/>
          </a:xfrm>
        </p:spPr>
        <p:txBody>
          <a:bodyPr>
            <a:normAutofit/>
          </a:bodyPr>
          <a:lstStyle/>
          <a:p>
            <a:r>
              <a:rPr lang="en-US" dirty="0"/>
              <a:t>Evaluation Results and Latency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3BF66-9039-7D37-4F4D-D8F3CCBEFC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2846" y="1878131"/>
            <a:ext cx="4864875" cy="3850724"/>
          </a:xfrm>
        </p:spPr>
        <p:txBody>
          <a:bodyPr anchor="ctr">
            <a:noAutofit/>
          </a:bodyPr>
          <a:lstStyle/>
          <a:p>
            <a:r>
              <a:rPr lang="en-US" b="1" dirty="0"/>
              <a:t>Metrics used: </a:t>
            </a:r>
            <a:r>
              <a:rPr lang="en-US" dirty="0"/>
              <a:t>MAE (Mean Absolute Error) for accuracy; latency measured in </a:t>
            </a:r>
            <a:r>
              <a:rPr lang="en-US" dirty="0" err="1"/>
              <a:t>ms.</a:t>
            </a:r>
            <a:endParaRPr lang="en-US" dirty="0"/>
          </a:p>
          <a:p>
            <a:r>
              <a:rPr lang="en-US" b="1" dirty="0"/>
              <a:t>Analysis: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Text is fastest and most accurate.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Audio spikes in latency due to file loading.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Video processing relatively consistent but slower than text.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Fusion improves robustness when one modality’s predictions vary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C573EF3-C615-D17A-03E8-D9D44E20FF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6932660"/>
              </p:ext>
            </p:extLst>
          </p:nvPr>
        </p:nvGraphicFramePr>
        <p:xfrm>
          <a:off x="5966691" y="2019867"/>
          <a:ext cx="5828145" cy="30067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0967">
                  <a:extLst>
                    <a:ext uri="{9D8B030D-6E8A-4147-A177-3AD203B41FA5}">
                      <a16:colId xmlns:a16="http://schemas.microsoft.com/office/drawing/2014/main" val="2224882294"/>
                    </a:ext>
                  </a:extLst>
                </a:gridCol>
                <a:gridCol w="1339534">
                  <a:extLst>
                    <a:ext uri="{9D8B030D-6E8A-4147-A177-3AD203B41FA5}">
                      <a16:colId xmlns:a16="http://schemas.microsoft.com/office/drawing/2014/main" val="1854416238"/>
                    </a:ext>
                  </a:extLst>
                </a:gridCol>
                <a:gridCol w="1473822">
                  <a:extLst>
                    <a:ext uri="{9D8B030D-6E8A-4147-A177-3AD203B41FA5}">
                      <a16:colId xmlns:a16="http://schemas.microsoft.com/office/drawing/2014/main" val="1820280200"/>
                    </a:ext>
                  </a:extLst>
                </a:gridCol>
                <a:gridCol w="1473822">
                  <a:extLst>
                    <a:ext uri="{9D8B030D-6E8A-4147-A177-3AD203B41FA5}">
                      <a16:colId xmlns:a16="http://schemas.microsoft.com/office/drawing/2014/main" val="40924602"/>
                    </a:ext>
                  </a:extLst>
                </a:gridCol>
              </a:tblGrid>
              <a:tr h="1116775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Modality</a:t>
                      </a:r>
                    </a:p>
                  </a:txBody>
                  <a:tcPr marL="107382" marR="107382" marT="53691" marB="536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/>
                        <a:t>MAE</a:t>
                      </a:r>
                    </a:p>
                  </a:txBody>
                  <a:tcPr marL="107382" marR="107382" marT="53691" marB="536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/>
                        <a:t>Avg. Latency (ms)</a:t>
                      </a:r>
                    </a:p>
                  </a:txBody>
                  <a:tcPr marL="107382" marR="107382" marT="53691" marB="536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/>
                        <a:t>Max Latency (ms)</a:t>
                      </a:r>
                    </a:p>
                  </a:txBody>
                  <a:tcPr marL="107382" marR="107382" marT="53691" marB="53691"/>
                </a:tc>
                <a:extLst>
                  <a:ext uri="{0D108BD9-81ED-4DB2-BD59-A6C34878D82A}">
                    <a16:rowId xmlns:a16="http://schemas.microsoft.com/office/drawing/2014/main" val="3495196847"/>
                  </a:ext>
                </a:extLst>
              </a:tr>
              <a:tr h="472482">
                <a:tc>
                  <a:txBody>
                    <a:bodyPr/>
                    <a:lstStyle/>
                    <a:p>
                      <a:r>
                        <a:rPr lang="en-US" sz="2100"/>
                        <a:t>Text</a:t>
                      </a:r>
                    </a:p>
                  </a:txBody>
                  <a:tcPr marL="107382" marR="107382" marT="53691" marB="53691"/>
                </a:tc>
                <a:tc>
                  <a:txBody>
                    <a:bodyPr/>
                    <a:lstStyle/>
                    <a:p>
                      <a:r>
                        <a:rPr lang="en-US" sz="2100"/>
                        <a:t>0.2584</a:t>
                      </a:r>
                    </a:p>
                  </a:txBody>
                  <a:tcPr marL="107382" marR="107382" marT="53691" marB="53691"/>
                </a:tc>
                <a:tc>
                  <a:txBody>
                    <a:bodyPr/>
                    <a:lstStyle/>
                    <a:p>
                      <a:r>
                        <a:rPr lang="en-US" sz="2100"/>
                        <a:t>192.2</a:t>
                      </a:r>
                    </a:p>
                  </a:txBody>
                  <a:tcPr marL="107382" marR="107382" marT="53691" marB="53691"/>
                </a:tc>
                <a:tc>
                  <a:txBody>
                    <a:bodyPr/>
                    <a:lstStyle/>
                    <a:p>
                      <a:r>
                        <a:rPr lang="en-US" sz="2100"/>
                        <a:t>358.5</a:t>
                      </a:r>
                    </a:p>
                  </a:txBody>
                  <a:tcPr marL="107382" marR="107382" marT="53691" marB="53691"/>
                </a:tc>
                <a:extLst>
                  <a:ext uri="{0D108BD9-81ED-4DB2-BD59-A6C34878D82A}">
                    <a16:rowId xmlns:a16="http://schemas.microsoft.com/office/drawing/2014/main" val="462309468"/>
                  </a:ext>
                </a:extLst>
              </a:tr>
              <a:tr h="472482">
                <a:tc>
                  <a:txBody>
                    <a:bodyPr/>
                    <a:lstStyle/>
                    <a:p>
                      <a:r>
                        <a:rPr lang="en-US" sz="2100"/>
                        <a:t>Audio</a:t>
                      </a:r>
                    </a:p>
                  </a:txBody>
                  <a:tcPr marL="107382" marR="107382" marT="53691" marB="53691"/>
                </a:tc>
                <a:tc>
                  <a:txBody>
                    <a:bodyPr/>
                    <a:lstStyle/>
                    <a:p>
                      <a:r>
                        <a:rPr lang="en-US" sz="2100"/>
                        <a:t>0.3043</a:t>
                      </a:r>
                    </a:p>
                  </a:txBody>
                  <a:tcPr marL="107382" marR="107382" marT="53691" marB="53691"/>
                </a:tc>
                <a:tc>
                  <a:txBody>
                    <a:bodyPr/>
                    <a:lstStyle/>
                    <a:p>
                      <a:r>
                        <a:rPr lang="en-US" sz="2100"/>
                        <a:t>268.3</a:t>
                      </a:r>
                    </a:p>
                  </a:txBody>
                  <a:tcPr marL="107382" marR="107382" marT="53691" marB="53691"/>
                </a:tc>
                <a:tc>
                  <a:txBody>
                    <a:bodyPr/>
                    <a:lstStyle/>
                    <a:p>
                      <a:r>
                        <a:rPr lang="en-US" sz="2100"/>
                        <a:t>2345.0</a:t>
                      </a:r>
                    </a:p>
                  </a:txBody>
                  <a:tcPr marL="107382" marR="107382" marT="53691" marB="53691"/>
                </a:tc>
                <a:extLst>
                  <a:ext uri="{0D108BD9-81ED-4DB2-BD59-A6C34878D82A}">
                    <a16:rowId xmlns:a16="http://schemas.microsoft.com/office/drawing/2014/main" val="2359190413"/>
                  </a:ext>
                </a:extLst>
              </a:tr>
              <a:tr h="472482">
                <a:tc>
                  <a:txBody>
                    <a:bodyPr/>
                    <a:lstStyle/>
                    <a:p>
                      <a:r>
                        <a:rPr lang="en-US" sz="2100"/>
                        <a:t>Video</a:t>
                      </a:r>
                    </a:p>
                  </a:txBody>
                  <a:tcPr marL="107382" marR="107382" marT="53691" marB="53691"/>
                </a:tc>
                <a:tc>
                  <a:txBody>
                    <a:bodyPr/>
                    <a:lstStyle/>
                    <a:p>
                      <a:r>
                        <a:rPr lang="en-US" sz="2100"/>
                        <a:t>0.3313</a:t>
                      </a:r>
                    </a:p>
                  </a:txBody>
                  <a:tcPr marL="107382" marR="107382" marT="53691" marB="53691"/>
                </a:tc>
                <a:tc>
                  <a:txBody>
                    <a:bodyPr/>
                    <a:lstStyle/>
                    <a:p>
                      <a:r>
                        <a:rPr lang="en-US" sz="2100"/>
                        <a:t>660.73</a:t>
                      </a:r>
                    </a:p>
                  </a:txBody>
                  <a:tcPr marL="107382" marR="107382" marT="53691" marB="53691"/>
                </a:tc>
                <a:tc>
                  <a:txBody>
                    <a:bodyPr/>
                    <a:lstStyle/>
                    <a:p>
                      <a:r>
                        <a:rPr lang="en-US" sz="2100"/>
                        <a:t>1154.8</a:t>
                      </a:r>
                    </a:p>
                  </a:txBody>
                  <a:tcPr marL="107382" marR="107382" marT="53691" marB="53691"/>
                </a:tc>
                <a:extLst>
                  <a:ext uri="{0D108BD9-81ED-4DB2-BD59-A6C34878D82A}">
                    <a16:rowId xmlns:a16="http://schemas.microsoft.com/office/drawing/2014/main" val="2059671416"/>
                  </a:ext>
                </a:extLst>
              </a:tr>
              <a:tr h="472482">
                <a:tc>
                  <a:txBody>
                    <a:bodyPr/>
                    <a:lstStyle/>
                    <a:p>
                      <a:r>
                        <a:rPr lang="en-US" sz="2100"/>
                        <a:t>Fused</a:t>
                      </a:r>
                    </a:p>
                  </a:txBody>
                  <a:tcPr marL="107382" marR="107382" marT="53691" marB="53691"/>
                </a:tc>
                <a:tc>
                  <a:txBody>
                    <a:bodyPr/>
                    <a:lstStyle/>
                    <a:p>
                      <a:r>
                        <a:rPr lang="en-US" sz="2100"/>
                        <a:t>0.2507</a:t>
                      </a:r>
                    </a:p>
                  </a:txBody>
                  <a:tcPr marL="107382" marR="107382" marT="53691" marB="53691"/>
                </a:tc>
                <a:tc>
                  <a:txBody>
                    <a:bodyPr/>
                    <a:lstStyle/>
                    <a:p>
                      <a:r>
                        <a:rPr lang="en-US" sz="2100"/>
                        <a:t>-</a:t>
                      </a:r>
                    </a:p>
                  </a:txBody>
                  <a:tcPr marL="107382" marR="107382" marT="53691" marB="53691"/>
                </a:tc>
                <a:tc>
                  <a:txBody>
                    <a:bodyPr/>
                    <a:lstStyle/>
                    <a:p>
                      <a:r>
                        <a:rPr lang="en-US" sz="2100" dirty="0"/>
                        <a:t>-</a:t>
                      </a:r>
                    </a:p>
                  </a:txBody>
                  <a:tcPr marL="107382" marR="107382" marT="53691" marB="53691"/>
                </a:tc>
                <a:extLst>
                  <a:ext uri="{0D108BD9-81ED-4DB2-BD59-A6C34878D82A}">
                    <a16:rowId xmlns:a16="http://schemas.microsoft.com/office/drawing/2014/main" val="370253941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553513B-F959-466A-836C-500197EB1485}"/>
              </a:ext>
            </a:extLst>
          </p:cNvPr>
          <p:cNvSpPr txBox="1"/>
          <p:nvPr/>
        </p:nvSpPr>
        <p:spPr>
          <a:xfrm>
            <a:off x="6096000" y="5061530"/>
            <a:ext cx="5615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Tests run on small sample size of 10, latency of fusion neglected as operations as fast in comparison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BD7E5D-4938-2030-8245-3941466EAF9A}"/>
              </a:ext>
            </a:extLst>
          </p:cNvPr>
          <p:cNvSpPr txBox="1"/>
          <p:nvPr/>
        </p:nvSpPr>
        <p:spPr>
          <a:xfrm>
            <a:off x="6437745" y="1625600"/>
            <a:ext cx="4682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Evaluation Results</a:t>
            </a:r>
          </a:p>
        </p:txBody>
      </p:sp>
    </p:spTree>
    <p:extLst>
      <p:ext uri="{BB962C8B-B14F-4D97-AF65-F5344CB8AC3E}">
        <p14:creationId xmlns:p14="http://schemas.microsoft.com/office/powerpoint/2010/main" val="248073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9F220-09A8-4E90-F24C-CDA4593A5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612" y="152061"/>
            <a:ext cx="10772775" cy="1658198"/>
          </a:xfrm>
        </p:spPr>
        <p:txBody>
          <a:bodyPr/>
          <a:lstStyle/>
          <a:p>
            <a:r>
              <a:rPr lang="en-US" dirty="0"/>
              <a:t>Challenges and Improvements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3CA114-0A20-62CC-B6AF-422F59A681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6084"/>
            <a:ext cx="10515600" cy="4652211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Current limitations: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Latency delays throughout with spikes for audio processing.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Fusion is naive using a simple average.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Limited dataset size may restrict generalization.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Video model relies on single-frame FER, ignoring spatial information.</a:t>
            </a:r>
          </a:p>
          <a:p>
            <a:r>
              <a:rPr lang="en-US" b="1" dirty="0"/>
              <a:t>Future improvements: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Optimize audio and video preprocessing for speed.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Use weighted fusion or similar multimodal model to understand cross-modal relations.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Expand training data making it more diverse with more emotions, speakers, etc.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Add capability to handle missing modalities more effectively.</a:t>
            </a:r>
          </a:p>
          <a:p>
            <a:r>
              <a:rPr lang="en-US" b="1" dirty="0"/>
              <a:t>Overall goal: </a:t>
            </a:r>
            <a:r>
              <a:rPr lang="en-US" dirty="0"/>
              <a:t>Continue to improve accuracy and latency metrics.</a:t>
            </a:r>
          </a:p>
        </p:txBody>
      </p:sp>
    </p:spTree>
    <p:extLst>
      <p:ext uri="{BB962C8B-B14F-4D97-AF65-F5344CB8AC3E}">
        <p14:creationId xmlns:p14="http://schemas.microsoft.com/office/powerpoint/2010/main" val="1932308292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36</TotalTime>
  <Words>388</Words>
  <Application>Microsoft Office PowerPoint</Application>
  <PresentationFormat>Widescreen</PresentationFormat>
  <Paragraphs>51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 Light</vt:lpstr>
      <vt:lpstr>Metropolitan</vt:lpstr>
      <vt:lpstr>Multimodal Emotion Recognition for HRI</vt:lpstr>
      <vt:lpstr>Model Design and Architecture</vt:lpstr>
      <vt:lpstr>Evaluation Results and Latency</vt:lpstr>
      <vt:lpstr>Challenges and Improvements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Carter McCalister</dc:creator>
  <cp:lastModifiedBy>Carter McCalister</cp:lastModifiedBy>
  <cp:revision>1</cp:revision>
  <dcterms:created xsi:type="dcterms:W3CDTF">2025-12-21T23:55:47Z</dcterms:created>
  <dcterms:modified xsi:type="dcterms:W3CDTF">2025-12-22T00:32:24Z</dcterms:modified>
</cp:coreProperties>
</file>